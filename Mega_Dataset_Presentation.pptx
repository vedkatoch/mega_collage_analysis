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993" r:id="rId1"/>
  </p:sldMasterIdLst>
  <p:sldIdLst>
    <p:sldId id="256" r:id="rId2"/>
    <p:sldId id="259" r:id="rId3"/>
    <p:sldId id="260" r:id="rId4"/>
    <p:sldId id="261" r:id="rId5"/>
    <p:sldId id="262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B90928F-A48D-49E9-A41B-A6BDC9561106}" v="3" dt="2025-12-24T15:59:45.508"/>
    <p1510:client id="{E6324030-C72D-4139-98BC-EBFC2BE0E8F8}" v="13" dt="2025-12-25T05:10:30.856"/>
    <p1510:client id="{FFC849D9-640F-40C9-B1E8-472976BBDB98}" v="234" dt="2025-12-24T17:22:09.64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50" autoAdjust="0"/>
    <p:restoredTop sz="94660"/>
  </p:normalViewPr>
  <p:slideViewPr>
    <p:cSldViewPr snapToGrid="0">
      <p:cViewPr varScale="1">
        <p:scale>
          <a:sx n="64" d="100"/>
          <a:sy n="64" d="100"/>
        </p:scale>
        <p:origin x="36" y="1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61353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12/24/2025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76419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81708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12/24/2025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44349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12/24/2025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93764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69094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12/24/2025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65319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12/24/2025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08035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12/24/2025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81567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05373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975734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922526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677729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094547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12/24/2025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062934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06212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12/24/2025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45580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94" r:id="rId1"/>
    <p:sldLayoutId id="2147483995" r:id="rId2"/>
    <p:sldLayoutId id="2147483996" r:id="rId3"/>
    <p:sldLayoutId id="2147483997" r:id="rId4"/>
    <p:sldLayoutId id="2147483998" r:id="rId5"/>
    <p:sldLayoutId id="2147483999" r:id="rId6"/>
    <p:sldLayoutId id="2147484000" r:id="rId7"/>
    <p:sldLayoutId id="2147484001" r:id="rId8"/>
    <p:sldLayoutId id="2147484002" r:id="rId9"/>
    <p:sldLayoutId id="2147484003" r:id="rId10"/>
    <p:sldLayoutId id="2147484004" r:id="rId11"/>
    <p:sldLayoutId id="2147484005" r:id="rId12"/>
    <p:sldLayoutId id="2147484006" r:id="rId13"/>
    <p:sldLayoutId id="2147484007" r:id="rId14"/>
    <p:sldLayoutId id="2147484008" r:id="rId15"/>
    <p:sldLayoutId id="214748400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FFB2B-67DC-46E2-898D-78AFFB8284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83838" y="1586657"/>
            <a:ext cx="6815669" cy="1801704"/>
          </a:xfrm>
        </p:spPr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Mega Dataset Presentation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1D4597-0AA4-4A69-9628-D5E9B09EEF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940564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This presentation was created to showcase key insights derived from analyzing the college dataset as part of the </a:t>
            </a:r>
            <a:r>
              <a:rPr lang="en-US" dirty="0" err="1"/>
              <a:t>Uptoskill</a:t>
            </a:r>
            <a:r>
              <a:rPr lang="en-US" dirty="0"/>
              <a:t> Internship.</a:t>
            </a:r>
          </a:p>
          <a:p>
            <a:r>
              <a:rPr lang="en-US" dirty="0"/>
              <a:t>                                     </a:t>
            </a:r>
          </a:p>
          <a:p>
            <a:r>
              <a:t>                                                                         Ved Katoch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0166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16BA45F-4210-4599-ABF1-7D63F34C998C}"/>
              </a:ext>
            </a:extLst>
          </p:cNvPr>
          <p:cNvSpPr/>
          <p:nvPr/>
        </p:nvSpPr>
        <p:spPr>
          <a:xfrm>
            <a:off x="720880" y="902138"/>
            <a:ext cx="7560694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800" b="1" dirty="0">
                <a:solidFill>
                  <a:srgbClr val="0070C0"/>
                </a:solidFill>
              </a:rPr>
              <a:t>Dataset Overview &amp; Structure </a:t>
            </a:r>
            <a:endParaRPr lang="en-US" sz="48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1B13214-612E-40D5-88CF-91619BE296B8}"/>
              </a:ext>
            </a:extLst>
          </p:cNvPr>
          <p:cNvSpPr/>
          <p:nvPr/>
        </p:nvSpPr>
        <p:spPr>
          <a:xfrm>
            <a:off x="955040" y="2227719"/>
            <a:ext cx="652272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u="sng" dirty="0"/>
              <a:t>Location Information  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State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Region (North, South, East, West, Central)</a:t>
            </a:r>
          </a:p>
          <a:p>
            <a:endParaRPr lang="en-US" sz="2400" dirty="0"/>
          </a:p>
          <a:p>
            <a:r>
              <a:rPr lang="en-US" sz="2400" b="1" u="sng" dirty="0"/>
              <a:t>Institutional Details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College Name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College Type (UG, PG, NA, etc.)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College Management (Private / Government / Management)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Total Number of Courses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Student Strength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A123EC9-6BE9-4485-BA54-588DD005DB1E}"/>
              </a:ext>
            </a:extLst>
          </p:cNvPr>
          <p:cNvSpPr/>
          <p:nvPr/>
        </p:nvSpPr>
        <p:spPr>
          <a:xfrm>
            <a:off x="7718392" y="2227719"/>
            <a:ext cx="3970956" cy="29546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u="sng" dirty="0"/>
              <a:t>Leadership &amp; Contact Info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Principal Name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Principal Contact Number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Principal Email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TPO Name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TPO Contact Number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TPO Email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Dean Name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Dean Contact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Landline Number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7355B6F-2CFB-4701-98D8-14A7CB5D0EDE}"/>
              </a:ext>
            </a:extLst>
          </p:cNvPr>
          <p:cNvSpPr/>
          <p:nvPr/>
        </p:nvSpPr>
        <p:spPr>
          <a:xfrm>
            <a:off x="8149471" y="906184"/>
            <a:ext cx="3321649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0070C0"/>
                </a:solidFill>
              </a:rPr>
              <a:t>Total Rows : 600+</a:t>
            </a:r>
          </a:p>
          <a:p>
            <a:r>
              <a:rPr lang="en-US" sz="2000" b="1" dirty="0">
                <a:solidFill>
                  <a:srgbClr val="0070C0"/>
                </a:solidFill>
              </a:rPr>
              <a:t>Total Column : 17</a:t>
            </a:r>
          </a:p>
        </p:txBody>
      </p:sp>
    </p:spTree>
    <p:extLst>
      <p:ext uri="{BB962C8B-B14F-4D97-AF65-F5344CB8AC3E}">
        <p14:creationId xmlns:p14="http://schemas.microsoft.com/office/powerpoint/2010/main" val="12051947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B075B39-3533-4274-8CCE-4FE382AA3098}"/>
              </a:ext>
            </a:extLst>
          </p:cNvPr>
          <p:cNvSpPr txBox="1"/>
          <p:nvPr/>
        </p:nvSpPr>
        <p:spPr>
          <a:xfrm>
            <a:off x="2727960" y="629324"/>
            <a:ext cx="67360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solidFill>
                  <a:srgbClr val="0070C0"/>
                </a:solidFill>
              </a:rPr>
              <a:t>Dashboard Structure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1F033C-E084-4A91-845B-5619B4BB942E}"/>
              </a:ext>
            </a:extLst>
          </p:cNvPr>
          <p:cNvSpPr txBox="1"/>
          <p:nvPr/>
        </p:nvSpPr>
        <p:spPr>
          <a:xfrm>
            <a:off x="755291" y="1707650"/>
            <a:ext cx="4588869" cy="24314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/>
              <a:t>Dashboard 1 (Main Dashboard)</a:t>
            </a:r>
          </a:p>
          <a:p>
            <a:endParaRPr lang="en-US" sz="2400" b="1" dirty="0"/>
          </a:p>
          <a:p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Provides a high-level summary of total colleges, courses, and students, with key distributions by course type, state, and region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12FC4B0-FA07-4E05-86B9-1EB4D9964E76}"/>
              </a:ext>
            </a:extLst>
          </p:cNvPr>
          <p:cNvSpPr/>
          <p:nvPr/>
        </p:nvSpPr>
        <p:spPr>
          <a:xfrm>
            <a:off x="6035040" y="1881982"/>
            <a:ext cx="5222240" cy="18466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u="sng" dirty="0"/>
              <a:t>Dashboard 2 (Geographical Overview</a:t>
            </a:r>
            <a:r>
              <a:rPr lang="en-US" b="1" u="sng" dirty="0"/>
              <a:t>)</a:t>
            </a:r>
          </a:p>
          <a:p>
            <a:endParaRPr lang="en-US" b="1" u="sng" dirty="0"/>
          </a:p>
          <a:p>
            <a:r>
              <a:rPr lang="en-US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Focuses on the regional &amp; city wise distribution of colleges allowing , Filtering by states.</a:t>
            </a:r>
          </a:p>
          <a:p>
            <a:endParaRPr lang="en-US" b="1" dirty="0">
              <a:solidFill>
                <a:srgbClr val="00B0F0"/>
              </a:solidFill>
            </a:endParaRPr>
          </a:p>
          <a:p>
            <a:endParaRPr lang="en-US" b="1" dirty="0">
              <a:solidFill>
                <a:srgbClr val="00B0F0"/>
              </a:solidFill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CF7DF653-F4E0-40E3-A213-378700A19E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A0AC7ECC-5B54-4CD2-919A-255862EDB0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23165"/>
            <a:ext cx="26481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5">
            <a:extLst>
              <a:ext uri="{FF2B5EF4-FFF2-40B4-BE49-F238E27FC236}">
                <a16:creationId xmlns:a16="http://schemas.microsoft.com/office/drawing/2014/main" id="{85F3600D-B6DF-448D-8F2A-EF50204D4424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708708" y="4227911"/>
            <a:ext cx="4582160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400" b="1" u="sng" dirty="0"/>
              <a:t>Dashboard 3 (Management Overview)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 b="1" dirty="0"/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Details the count of colleges by management type and provides specific college contact information.</a:t>
            </a: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238523C-6954-4E31-A1AC-733ABC7F4C74}"/>
              </a:ext>
            </a:extLst>
          </p:cNvPr>
          <p:cNvSpPr/>
          <p:nvPr/>
        </p:nvSpPr>
        <p:spPr>
          <a:xfrm>
            <a:off x="6035040" y="3913526"/>
            <a:ext cx="544576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400" b="1" u="sng" dirty="0"/>
              <a:t>Dashboard 4 (Student Strength &amp; Course Count)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 b="1" dirty="0"/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Details the count of colleges by management type and provides specific college contact information</a:t>
            </a:r>
            <a:r>
              <a:rPr lang="en-US" b="1" dirty="0"/>
              <a:t>.</a:t>
            </a:r>
            <a:endParaRPr lang="en-US" altLang="en-US" b="1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42618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B075B39-3533-4274-8CCE-4FE382AA3098}"/>
              </a:ext>
            </a:extLst>
          </p:cNvPr>
          <p:cNvSpPr txBox="1"/>
          <p:nvPr/>
        </p:nvSpPr>
        <p:spPr>
          <a:xfrm>
            <a:off x="2235680" y="183611"/>
            <a:ext cx="7167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solidFill>
                  <a:srgbClr val="0070C0"/>
                </a:solidFill>
              </a:rPr>
              <a:t>Key Insights &amp; Findings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1F033C-E084-4A91-845B-5619B4BB942E}"/>
              </a:ext>
            </a:extLst>
          </p:cNvPr>
          <p:cNvSpPr txBox="1"/>
          <p:nvPr/>
        </p:nvSpPr>
        <p:spPr>
          <a:xfrm>
            <a:off x="617086" y="1512650"/>
            <a:ext cx="5437133" cy="221599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400" b="1" u="sng" dirty="0"/>
              <a:t>Dashboard 1 (Main </a:t>
            </a:r>
            <a:r>
              <a:rPr lang="en-US" sz="2000" b="1" u="sng" dirty="0"/>
              <a:t>Dashboard</a:t>
            </a:r>
            <a:r>
              <a:rPr lang="en-US" sz="2400" b="1" u="sng" dirty="0"/>
              <a:t>)</a:t>
            </a:r>
          </a:p>
          <a:p>
            <a:endParaRPr lang="en-US" sz="2400" b="1" dirty="0"/>
          </a:p>
          <a:p>
            <a:r>
              <a:rPr lang="en-US" dirty="0"/>
              <a:t>➤The dataset is highly concentrated, with 21.2% of colleges located in the north region.</a:t>
            </a:r>
          </a:p>
          <a:p>
            <a:r>
              <a:rPr lang="en-US" dirty="0"/>
              <a:t>➤Uttar Pradesh hosts the majority of colleges, significantly surpassing the count of all other filtered states combined.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12FC4B0-FA07-4E05-86B9-1EB4D9964E76}"/>
              </a:ext>
            </a:extLst>
          </p:cNvPr>
          <p:cNvSpPr/>
          <p:nvPr/>
        </p:nvSpPr>
        <p:spPr>
          <a:xfrm>
            <a:off x="5961246" y="1512869"/>
            <a:ext cx="5222240" cy="5386090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000" b="1" u="sng" dirty="0"/>
              <a:t>Dashboard 2 (Geographical Overview)</a:t>
            </a:r>
          </a:p>
          <a:p>
            <a:endParaRPr lang="en-US" u="sng" dirty="0"/>
          </a:p>
          <a:p>
            <a:r>
              <a:rPr lang="en-US" dirty="0"/>
              <a:t>➤ Hamirpur leads all cities in the </a:t>
            </a:r>
            <a:r>
              <a:rPr lang="en-US" dirty="0" err="1"/>
              <a:t>presentationin</a:t>
            </a:r>
            <a:r>
              <a:rPr lang="en-US" dirty="0"/>
              <a:t> terms of the number of affiliated colleges.</a:t>
            </a:r>
          </a:p>
          <a:p>
            <a:r>
              <a:rPr lang="en-US" dirty="0"/>
              <a:t>➤ The underlying dataset encompasses a large academic scope: 684 colleges, 13Kcourses, and 4 million students.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>
              <a:solidFill>
                <a:srgbClr val="000000"/>
              </a:solidFill>
            </a:endParaRPr>
          </a:p>
          <a:p>
            <a:endParaRPr lang="en-US" b="1" dirty="0">
              <a:solidFill>
                <a:srgbClr val="00B0F0"/>
              </a:solidFill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CF7DF653-F4E0-40E3-A213-378700A19E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A0AC7ECC-5B54-4CD2-919A-255862EDB0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23165"/>
            <a:ext cx="26481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5">
            <a:extLst>
              <a:ext uri="{FF2B5EF4-FFF2-40B4-BE49-F238E27FC236}">
                <a16:creationId xmlns:a16="http://schemas.microsoft.com/office/drawing/2014/main" id="{85F3600D-B6DF-448D-8F2A-EF50204D4424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617086" y="4061343"/>
            <a:ext cx="5344160" cy="27084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b="1" u="sng" dirty="0"/>
              <a:t>Dashboard 3 (Management Overview)</a:t>
            </a:r>
          </a:p>
          <a:p>
            <a:pPr defTabSz="914400"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➤ College management is almost evenly divided between Private (51.02%) and Government (20.32%) institutions.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/>
          </a:p>
          <a:p>
            <a:pPr defTabSz="914400"/>
            <a:r>
              <a:rPr lang="en-US" dirty="0"/>
              <a:t>➤ MBA colleges are the most frequently recorded college type in the entire dataset.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 b="1" u="sng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238523C-6954-4E31-A1AC-733ABC7F4C74}"/>
              </a:ext>
            </a:extLst>
          </p:cNvPr>
          <p:cNvSpPr/>
          <p:nvPr/>
        </p:nvSpPr>
        <p:spPr>
          <a:xfrm>
            <a:off x="5961246" y="3728642"/>
            <a:ext cx="5445760" cy="2185214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b="1" u="sng" dirty="0"/>
              <a:t>Dashboard 4 (Student Strength &amp; Course count)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 b="1" u="sng" dirty="0"/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➤ PUBLIC colleges contribute to the highest overall student strength in the academic data.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➤ Most colleges exhibit both a low course count and low student strength</a:t>
            </a:r>
          </a:p>
        </p:txBody>
      </p:sp>
    </p:spTree>
    <p:extLst>
      <p:ext uri="{BB962C8B-B14F-4D97-AF65-F5344CB8AC3E}">
        <p14:creationId xmlns:p14="http://schemas.microsoft.com/office/powerpoint/2010/main" val="36042167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0AEB58D-0937-4022-A99F-339C112F258B}"/>
              </a:ext>
            </a:extLst>
          </p:cNvPr>
          <p:cNvSpPr txBox="1"/>
          <p:nvPr/>
        </p:nvSpPr>
        <p:spPr>
          <a:xfrm>
            <a:off x="1225617" y="760395"/>
            <a:ext cx="9740766" cy="9233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5400" b="1" dirty="0">
                <a:solidFill>
                  <a:srgbClr val="0070C0"/>
                </a:solidFill>
              </a:rPr>
              <a:t> Summary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35A002E7-692B-4B70-A185-FE5E0265C7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2008" y="1614167"/>
            <a:ext cx="9973377" cy="46935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dirty="0"/>
              <a:t>➤ </a:t>
            </a:r>
            <a:r>
              <a:rPr kumimoji="0" lang="en-US" altLang="en-US" sz="2000" b="1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Main Dashboard: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i="0" strike="noStrike" cap="none" normalizeH="0" baseline="0" dirty="0">
                <a:ln>
                  <a:noFill/>
                </a:ln>
                <a:effectLst/>
                <a:latin typeface="Arial"/>
                <a:cs typeface="Arial"/>
              </a:rPr>
              <a:t>Prioritize growth in </a:t>
            </a:r>
            <a:r>
              <a:rPr lang="en-US" altLang="en-US" dirty="0" err="1">
                <a:latin typeface="Arial"/>
                <a:cs typeface="Arial"/>
              </a:rPr>
              <a:t>under represented</a:t>
            </a:r>
            <a:r>
              <a:rPr kumimoji="0" lang="en-US" altLang="en-US" sz="1800" i="0" strike="noStrike" cap="none" normalizeH="0" baseline="0" dirty="0">
                <a:ln>
                  <a:noFill/>
                </a:ln>
                <a:effectLst/>
                <a:latin typeface="Arial"/>
                <a:cs typeface="Arial"/>
              </a:rPr>
              <a:t> regions while focusing resources on the dominant state, Uttar Pradesh.</a:t>
            </a:r>
            <a:endParaRPr lang="en-US" altLang="en-US" sz="1800" i="0" strike="noStrike" cap="none" normalizeH="0" baseline="0" dirty="0">
              <a:ln>
                <a:noFill/>
              </a:ln>
              <a:effectLst/>
              <a:latin typeface="Arial"/>
              <a:cs typeface="Arial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dirty="0"/>
              <a:t>➤ </a:t>
            </a:r>
            <a:r>
              <a:rPr kumimoji="0" lang="en-US" altLang="en-US" sz="2000" b="1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Slide 1 - Geographical Overview</a:t>
            </a:r>
            <a:r>
              <a:rPr kumimoji="0" lang="en-US" altLang="en-US" sz="2000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Conduct a case study on </a:t>
            </a:r>
            <a:r>
              <a:rPr lang="en-US" altLang="en-US" dirty="0">
                <a:latin typeface="Arial" panose="020B0604020202020204" pitchFamily="34" charset="0"/>
              </a:rPr>
              <a:t>Hamirpur to replicate its college concentration success in other cities.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b="1" dirty="0">
              <a:latin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dirty="0"/>
              <a:t>➤ </a:t>
            </a:r>
            <a:r>
              <a:rPr lang="en-US" altLang="en-US" sz="2000" b="1" dirty="0">
                <a:latin typeface="Arial" panose="020B0604020202020204" pitchFamily="34" charset="0"/>
              </a:rPr>
              <a:t>Slide 2 - Management Overview: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Arial"/>
                <a:cs typeface="Arial"/>
              </a:rPr>
              <a:t>Develop dual strategies tailored for the distinct needs of Government. </a:t>
            </a:r>
            <a:r>
              <a:rPr lang="en-US" dirty="0">
                <a:ea typeface="+mn-lt"/>
                <a:cs typeface="+mn-lt"/>
              </a:rPr>
              <a:t>Invest in infrastructure and faculty to </a:t>
            </a:r>
            <a:r>
              <a:rPr lang="en-US" b="1" dirty="0">
                <a:ea typeface="+mn-lt"/>
                <a:cs typeface="+mn-lt"/>
              </a:rPr>
              <a:t>increase enrollment capacity</a:t>
            </a:r>
            <a:r>
              <a:rPr lang="en-US" dirty="0">
                <a:ea typeface="+mn-lt"/>
                <a:cs typeface="+mn-lt"/>
              </a:rPr>
              <a:t> and balance the ecosystem.</a:t>
            </a:r>
            <a:r>
              <a:rPr lang="en-US" altLang="en-US" dirty="0">
                <a:latin typeface="Arial"/>
                <a:cs typeface="Arial"/>
              </a:rPr>
              <a:t>.</a:t>
            </a:r>
            <a:endParaRPr lang="en-US" altLang="en-US" dirty="0">
              <a:latin typeface="Arial" panose="020B0604020202020204" pitchFamily="34" charset="0"/>
              <a:cs typeface="Arial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Font typeface="Arial"/>
              <a:buChar char="•"/>
            </a:pPr>
            <a:r>
              <a:rPr lang="en-US" sz="1700" dirty="0">
                <a:ea typeface="+mn-lt"/>
                <a:cs typeface="+mn-lt"/>
              </a:rPr>
              <a:t>Promote autonomy and innovation to improve </a:t>
            </a:r>
            <a:r>
              <a:rPr lang="en-US" sz="1700" b="1" dirty="0">
                <a:ea typeface="+mn-lt"/>
                <a:cs typeface="+mn-lt"/>
              </a:rPr>
              <a:t>academic quality and curriculum flexibility</a:t>
            </a:r>
            <a:r>
              <a:rPr lang="en-US" sz="1700" dirty="0">
                <a:ea typeface="+mn-lt"/>
                <a:cs typeface="+mn-lt"/>
              </a:rPr>
              <a:t>.</a:t>
            </a:r>
            <a:endParaRPr lang="en-US" altLang="en-US" sz="17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dirty="0"/>
              <a:t>➤ </a:t>
            </a:r>
            <a:r>
              <a:rPr lang="en-US" altLang="en-US" sz="2000" b="1" dirty="0">
                <a:latin typeface="Arial" panose="020B0604020202020204" pitchFamily="34" charset="0"/>
              </a:rPr>
              <a:t>Slide 3 - Student Strength &amp; Course Count Overview</a:t>
            </a:r>
            <a:r>
              <a:rPr lang="en-US" altLang="en-US" sz="2400" b="1" dirty="0">
                <a:latin typeface="Arial" panose="020B0604020202020204" pitchFamily="34" charset="0"/>
              </a:rPr>
              <a:t>: </a:t>
            </a:r>
          </a:p>
          <a:p>
            <a:pPr defTabSz="914400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ea typeface="+mn-lt"/>
                <a:cs typeface="+mn-lt"/>
              </a:rPr>
              <a:t>Allocate more resources </a:t>
            </a:r>
            <a:r>
              <a:rPr kumimoji="0" lang="en-US" sz="1800" i="0" u="none" strike="noStrike" cap="none" normalizeH="0" baseline="0" dirty="0">
                <a:ln>
                  <a:noFill/>
                </a:ln>
                <a:effectLst/>
                <a:ea typeface="+mn-lt"/>
                <a:cs typeface="+mn-lt"/>
              </a:rPr>
              <a:t>to </a:t>
            </a:r>
            <a:r>
              <a:rPr lang="en-US" b="1" dirty="0">
                <a:ea typeface="+mn-lt"/>
                <a:cs typeface="+mn-lt"/>
              </a:rPr>
              <a:t>Public, Engineering, </a:t>
            </a:r>
            <a:r>
              <a:rPr kumimoji="0" lang="en-US" sz="1800" b="1" i="0" u="none" strike="noStrike" cap="none" normalizeH="0" baseline="0" dirty="0">
                <a:ln>
                  <a:noFill/>
                </a:ln>
                <a:effectLst/>
                <a:ea typeface="+mn-lt"/>
                <a:cs typeface="+mn-lt"/>
              </a:rPr>
              <a:t>and UG/PG </a:t>
            </a:r>
            <a:r>
              <a:rPr lang="en-US" b="1" dirty="0">
                <a:ea typeface="+mn-lt"/>
                <a:cs typeface="+mn-lt"/>
              </a:rPr>
              <a:t>colleges</a:t>
            </a:r>
            <a:r>
              <a:rPr lang="en-US" dirty="0">
                <a:ea typeface="+mn-lt"/>
                <a:cs typeface="+mn-lt"/>
              </a:rPr>
              <a:t> to support growing student demand</a:t>
            </a:r>
            <a:r>
              <a:rPr kumimoji="0" lang="en-US" sz="1800" i="0" u="none" strike="noStrike" cap="none" normalizeH="0" baseline="0" dirty="0">
                <a:ln>
                  <a:noFill/>
                </a:ln>
                <a:effectLst/>
                <a:ea typeface="+mn-lt"/>
                <a:cs typeface="+mn-lt"/>
              </a:rPr>
              <a:t>.</a:t>
            </a:r>
            <a:endParaRPr lang="en-US" sz="1800" i="0" u="none" strike="noStrike" cap="none" normalizeH="0" baseline="0" dirty="0">
              <a:ln>
                <a:noFill/>
              </a:ln>
              <a:effectLst/>
              <a:ea typeface="+mn-lt"/>
              <a:cs typeface="+mn-lt"/>
            </a:endParaRPr>
          </a:p>
          <a:p>
            <a:pPr defTabSz="914400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ea typeface="+mn-lt"/>
                <a:cs typeface="+mn-lt"/>
              </a:rPr>
              <a:t>Use student strength vs course count trends to </a:t>
            </a:r>
            <a:r>
              <a:rPr lang="en-US" b="1" dirty="0">
                <a:ea typeface="+mn-lt"/>
                <a:cs typeface="+mn-lt"/>
              </a:rPr>
              <a:t>forecast demand and plan infrastructure</a:t>
            </a:r>
            <a:r>
              <a:rPr lang="en-US" dirty="0">
                <a:ea typeface="+mn-lt"/>
                <a:cs typeface="+mn-lt"/>
              </a:rPr>
              <a:t>.</a:t>
            </a:r>
          </a:p>
          <a:p>
            <a:pPr defTabSz="914400">
              <a:spcBef>
                <a:spcPct val="0"/>
              </a:spcBef>
              <a:spcAft>
                <a:spcPct val="0"/>
              </a:spcAft>
            </a:pPr>
            <a:endParaRPr lang="en-US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667522329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860</TotalTime>
  <Words>479</Words>
  <Application>Microsoft Office PowerPoint</Application>
  <PresentationFormat>Widescreen</PresentationFormat>
  <Paragraphs>70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Facet</vt:lpstr>
      <vt:lpstr>Mega Dataset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Mega Dataset Presentation</dc:title>
  <dc:creator>Pranshul Joshi</dc:creator>
  <cp:lastModifiedBy>Pranshul Joshi</cp:lastModifiedBy>
  <cp:revision>107</cp:revision>
  <dcterms:created xsi:type="dcterms:W3CDTF">2025-11-28T05:43:58Z</dcterms:created>
  <dcterms:modified xsi:type="dcterms:W3CDTF">2025-12-25T05:11:05Z</dcterms:modified>
</cp:coreProperties>
</file>